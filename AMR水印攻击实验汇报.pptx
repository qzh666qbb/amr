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1097280"/>
            <a:ext cx="10789920" cy="1097280"/>
          </a:xfrm>
          <a:prstGeom prst="roundRect">
            <a:avLst/>
          </a:prstGeom>
          <a:solidFill>
            <a:srgbClr val="12233A"/>
          </a:solidFill>
          <a:ln>
            <a:solidFill>
              <a:srgbClr val="12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l"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t>面向 AMR 语义水印检测的</a:t>
            </a:r>
            <a:br/>
            <a:r>
              <a:t>反馈式对抗攻击研究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13232" y="2743200"/>
            <a:ext cx="9875520" cy="548640"/>
          </a:xfrm>
          <a:prstGeom prst="roundRect">
            <a:avLst/>
          </a:prstGeom>
          <a:solidFill>
            <a:srgbClr val="12233A"/>
          </a:solidFill>
          <a:ln>
            <a:solidFill>
              <a:srgbClr val="12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l">
              <a:defRPr sz="1800" b="0">
                <a:solidFill>
                  <a:srgbClr val="BED7EB"/>
                </a:solidFill>
                <a:latin typeface="Microsoft YaHei"/>
              </a:defRPr>
            </a:pPr>
            <a:r>
              <a:t>研究目标 · 方法演进 · 正式实验 · 质量风险 · 下一步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5166360"/>
            <a:ext cx="4389120" cy="502920"/>
          </a:xfrm>
          <a:prstGeom prst="roundRect">
            <a:avLst/>
          </a:prstGeom>
          <a:solidFill>
            <a:srgbClr val="2DAABE"/>
          </a:solidFill>
          <a:ln>
            <a:solidFill>
              <a:srgbClr val="2DA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RealNews · 250段 · 1000候选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78240" y="5989320"/>
            <a:ext cx="2560320" cy="320040"/>
          </a:xfrm>
          <a:prstGeom prst="roundRect">
            <a:avLst/>
          </a:prstGeom>
          <a:solidFill>
            <a:srgbClr val="12233A"/>
          </a:solidFill>
          <a:ln>
            <a:solidFill>
              <a:srgbClr val="12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实验汇报｜2026.07</a:t>
            </a:r>
          </a:p>
        </p:txBody>
      </p:sp>
      <p:sp>
        <p:nvSpPr>
          <p:cNvPr id="6" name="Rectangle 5"/>
          <p:cNvSpPr/>
          <p:nvPr/>
        </p:nvSpPr>
        <p:spPr>
          <a:xfrm>
            <a:off x="11292840" y="6510528"/>
            <a:ext cx="457200" cy="20116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r">
              <a:defRPr sz="1000" b="0">
                <a:solidFill>
                  <a:srgbClr val="627080"/>
                </a:solidFill>
                <a:latin typeface="Microsoft YaHe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28600"/>
            <a:ext cx="11155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l">
              <a:defRPr sz="2700" b="1">
                <a:solidFill>
                  <a:srgbClr val="12233A"/>
                </a:solidFill>
                <a:latin typeface="Microsoft YaHei"/>
              </a:defRPr>
            </a:pPr>
            <a:r>
              <a:t>1. 我们想做什么？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95528"/>
            <a:ext cx="914400" cy="64008"/>
          </a:xfrm>
          <a:prstGeom prst="rect">
            <a:avLst/>
          </a:prstGeom>
          <a:solidFill>
            <a:srgbClr val="2DAABE"/>
          </a:solidFill>
          <a:ln>
            <a:solidFill>
              <a:srgbClr val="2DA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l">
              <a:defRPr sz="100" b="0">
                <a:solidFill>
                  <a:srgbClr val="2DAABE"/>
                </a:solidFill>
                <a:latin typeface="Microsoft YaHei"/>
              </a:defRPr>
            </a:pPr>
          </a:p>
        </p:txBody>
      </p:sp>
      <p:sp>
        <p:nvSpPr>
          <p:cNvPr id="4" name="Rectangle 3"/>
          <p:cNvSpPr/>
          <p:nvPr/>
        </p:nvSpPr>
        <p:spPr>
          <a:xfrm>
            <a:off x="502920" y="914400"/>
            <a:ext cx="10972800" cy="3200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l">
              <a:defRPr sz="1200" b="0">
                <a:solidFill>
                  <a:srgbClr val="627080"/>
                </a:solidFill>
                <a:latin typeface="Microsoft YaHei"/>
              </a:defRPr>
            </a:pPr>
            <a:r>
              <a:t>研究问题与核心假设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5303520" cy="4389120"/>
          </a:xfrm>
          <a:prstGeom prst="roundRect">
            <a:avLst/>
          </a:prstGeom>
          <a:solidFill>
            <a:srgbClr val="F2F6FA"/>
          </a:solidFill>
          <a:ln>
            <a:solidFill>
              <a:srgbClr val="27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l">
              <a:defRPr sz="2400" b="1">
                <a:solidFill>
                  <a:srgbClr val="12233A"/>
                </a:solidFill>
                <a:latin typeface="Microsoft YaHei"/>
              </a:defRPr>
            </a:pPr>
            <a:r>
              <a:t>目标</a:t>
            </a:r>
            <a:br/>
            <a:br/>
            <a:r>
              <a:t>在尽量保持原文语义、实体、数字、否定和可读性的前提下，改变文本的 AMR 结构，使 SWAN 水印检测分数下降。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578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l">
              <a:defRPr sz="2000" b="1">
                <a:solidFill>
                  <a:srgbClr val="12233A"/>
                </a:solidFill>
                <a:latin typeface="Microsoft YaHei"/>
              </a:defRPr>
            </a:pPr>
            <a:r>
              <a:t>核心问题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965960"/>
            <a:ext cx="4617720" cy="1143000"/>
          </a:xfrm>
          <a:prstGeom prst="roundRect">
            <a:avLst/>
          </a:prstGeom>
          <a:solidFill>
            <a:srgbClr val="E7F2FC"/>
          </a:solidFill>
          <a:ln>
            <a:solidFill>
              <a:srgbClr val="27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ctr">
              <a:defRPr sz="2500" b="1">
                <a:solidFill>
                  <a:srgbClr val="2769B4"/>
                </a:solidFill>
                <a:latin typeface="Microsoft YaHei"/>
              </a:defRPr>
            </a:pPr>
            <a:r>
              <a:t>能否系统性规避</a:t>
            </a:r>
            <a:br/>
            <a:r>
              <a:t>基于 AMR 模板匹配的检测器？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703320"/>
            <a:ext cx="52578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l">
              <a:defRPr sz="2000" b="1">
                <a:solidFill>
                  <a:srgbClr val="12233A"/>
                </a:solidFill>
                <a:latin typeface="Microsoft YaHei"/>
              </a:defRPr>
            </a:pPr>
            <a:r>
              <a:t>攻击成功 = 检测规避 + 语义质量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4343400"/>
            <a:ext cx="2057400" cy="777240"/>
          </a:xfrm>
          <a:prstGeom prst="roundRect">
            <a:avLst/>
          </a:prstGeom>
          <a:solidFill>
            <a:srgbClr val="E2F6EF"/>
          </a:solidFill>
          <a:ln>
            <a:solidFill>
              <a:srgbClr val="2F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ctr">
              <a:defRPr sz="2200" b="1">
                <a:solidFill>
                  <a:srgbClr val="2F915F"/>
                </a:solidFill>
                <a:latin typeface="Microsoft YaHei"/>
              </a:defRPr>
            </a:pPr>
            <a:r>
              <a:t>z ≤ 2.33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15400" y="4343400"/>
            <a:ext cx="2057400" cy="777240"/>
          </a:xfrm>
          <a:prstGeom prst="roundRect">
            <a:avLst/>
          </a:prstGeom>
          <a:solidFill>
            <a:srgbClr val="FFF1E0"/>
          </a:solidFill>
          <a:ln>
            <a:solidFill>
              <a:srgbClr val="EB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ctr">
              <a:defRPr sz="2200" b="1">
                <a:solidFill>
                  <a:srgbClr val="EB912D"/>
                </a:solidFill>
                <a:latin typeface="Microsoft YaHei"/>
              </a:defRPr>
            </a:pPr>
            <a:r>
              <a:t>质量合格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292840" y="6510528"/>
            <a:ext cx="457200" cy="20116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r">
              <a:defRPr sz="1000" b="0">
                <a:solidFill>
                  <a:srgbClr val="627080"/>
                </a:solidFill>
                <a:latin typeface="Microsoft YaHe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28600"/>
            <a:ext cx="11155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l">
              <a:defRPr sz="2700" b="1">
                <a:solidFill>
                  <a:srgbClr val="12233A"/>
                </a:solidFill>
                <a:latin typeface="Microsoft YaHei"/>
              </a:defRPr>
            </a:pPr>
            <a:r>
              <a:t>2. 我们发现了什么问题？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95528"/>
            <a:ext cx="914400" cy="64008"/>
          </a:xfrm>
          <a:prstGeom prst="rect">
            <a:avLst/>
          </a:prstGeom>
          <a:solidFill>
            <a:srgbClr val="2DAABE"/>
          </a:solidFill>
          <a:ln>
            <a:solidFill>
              <a:srgbClr val="2DA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l">
              <a:defRPr sz="100" b="0">
                <a:solidFill>
                  <a:srgbClr val="2DAABE"/>
                </a:solidFill>
                <a:latin typeface="Microsoft YaHei"/>
              </a:defRPr>
            </a:pPr>
          </a:p>
        </p:txBody>
      </p:sp>
      <p:sp>
        <p:nvSpPr>
          <p:cNvPr id="4" name="Rectangle 3"/>
          <p:cNvSpPr/>
          <p:nvPr/>
        </p:nvSpPr>
        <p:spPr>
          <a:xfrm>
            <a:off x="502920" y="914400"/>
            <a:ext cx="10972800" cy="3200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l">
              <a:defRPr sz="1200" b="0">
                <a:solidFill>
                  <a:srgbClr val="627080"/>
                </a:solidFill>
                <a:latin typeface="Microsoft YaHei"/>
              </a:defRPr>
            </a:pPr>
            <a:r>
              <a:t>早期实验暴露出两个层面的脆弱性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303520" cy="4434840"/>
          </a:xfrm>
          <a:prstGeom prst="roundRect">
            <a:avLst/>
          </a:prstGeom>
          <a:solidFill>
            <a:srgbClr val="E7F2FC"/>
          </a:solidFill>
          <a:ln>
            <a:solidFill>
              <a:srgbClr val="27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l">
              <a:defRPr sz="2400" b="1">
                <a:solidFill>
                  <a:srgbClr val="12233A"/>
                </a:solidFill>
                <a:latin typeface="Microsoft YaHei"/>
              </a:defRPr>
            </a:pPr>
            <a:r>
              <a:t>检测器层面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05740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1E2630"/>
                </a:solidFill>
                <a:latin typeface="Microsoft YaHei"/>
              </a:defRPr>
            </a:pPr>
            <a:r>
              <a:t>• SWAN依赖AMR概念、角色和子图模板匹配</a:t>
            </a:r>
          </a:p>
          <a:p>
            <a:pPr>
              <a:spcAft>
                <a:spcPts val="1300"/>
              </a:spcAft>
              <a:defRPr sz="1900">
                <a:solidFill>
                  <a:srgbClr val="1E2630"/>
                </a:solidFill>
                <a:latin typeface="Microsoft YaHei"/>
              </a:defRPr>
            </a:pPr>
            <a:r>
              <a:t>• 句界变化、谓词重组会改变解析结果</a:t>
            </a:r>
          </a:p>
          <a:p>
            <a:pPr>
              <a:spcAft>
                <a:spcPts val="1300"/>
              </a:spcAft>
              <a:defRPr sz="1900">
                <a:solidFill>
                  <a:srgbClr val="1E2630"/>
                </a:solidFill>
                <a:latin typeface="Microsoft YaHei"/>
              </a:defRPr>
            </a:pPr>
            <a:r>
              <a:t>• 单次简单改写通常只能让少量段落降分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257800" cy="4434840"/>
          </a:xfrm>
          <a:prstGeom prst="roundRect">
            <a:avLst/>
          </a:prstGeom>
          <a:solidFill>
            <a:srgbClr val="FFF1E0"/>
          </a:solidFill>
          <a:ln>
            <a:solidFill>
              <a:srgbClr val="EB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l">
              <a:defRPr sz="2400" b="1">
                <a:solidFill>
                  <a:srgbClr val="12233A"/>
                </a:solidFill>
                <a:latin typeface="Microsoft YaHei"/>
              </a:defRPr>
            </a:pPr>
            <a:r>
              <a:t>攻击质量层面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05740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1E2630"/>
                </a:solidFill>
                <a:latin typeface="Microsoft YaHei"/>
              </a:defRPr>
            </a:pPr>
            <a:r>
              <a:t>• 低z-score不等于语义保持</a:t>
            </a:r>
          </a:p>
          <a:p>
            <a:pPr>
              <a:spcAft>
                <a:spcPts val="1300"/>
              </a:spcAft>
              <a:defRPr sz="1900">
                <a:solidFill>
                  <a:srgbClr val="1E2630"/>
                </a:solidFill>
                <a:latin typeface="Microsoft YaHei"/>
              </a:defRPr>
            </a:pPr>
            <a:r>
              <a:t>• 常见失败：否定反转、关系模糊、信息删减/新增</a:t>
            </a:r>
          </a:p>
          <a:p>
            <a:pPr>
              <a:spcAft>
                <a:spcPts val="1300"/>
              </a:spcAft>
              <a:defRPr sz="1900">
                <a:solidFill>
                  <a:srgbClr val="1E2630"/>
                </a:solidFill>
                <a:latin typeface="Microsoft YaHei"/>
              </a:defRPr>
            </a:pPr>
            <a:r>
              <a:t>• 自动生成模型同时评分会产生自评偏差</a:t>
            </a:r>
          </a:p>
        </p:txBody>
      </p:sp>
      <p:sp>
        <p:nvSpPr>
          <p:cNvPr id="9" name="Rectangle 8"/>
          <p:cNvSpPr/>
          <p:nvPr/>
        </p:nvSpPr>
        <p:spPr>
          <a:xfrm>
            <a:off x="11292840" y="6510528"/>
            <a:ext cx="457200" cy="20116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r">
              <a:defRPr sz="1000" b="0">
                <a:solidFill>
                  <a:srgbClr val="627080"/>
                </a:solidFill>
                <a:latin typeface="Microsoft YaHe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28600"/>
            <a:ext cx="11155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l">
              <a:defRPr sz="2700" b="1">
                <a:solidFill>
                  <a:srgbClr val="12233A"/>
                </a:solidFill>
                <a:latin typeface="Microsoft YaHei"/>
              </a:defRPr>
            </a:pPr>
            <a:r>
              <a:t>3. 参考了什么？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95528"/>
            <a:ext cx="914400" cy="64008"/>
          </a:xfrm>
          <a:prstGeom prst="rect">
            <a:avLst/>
          </a:prstGeom>
          <a:solidFill>
            <a:srgbClr val="2DAABE"/>
          </a:solidFill>
          <a:ln>
            <a:solidFill>
              <a:srgbClr val="2DA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l">
              <a:defRPr sz="100" b="0">
                <a:solidFill>
                  <a:srgbClr val="2DAABE"/>
                </a:solidFill>
                <a:latin typeface="Microsoft YaHei"/>
              </a:defRPr>
            </a:pPr>
          </a:p>
        </p:txBody>
      </p:sp>
      <p:sp>
        <p:nvSpPr>
          <p:cNvPr id="4" name="Rectangle 3"/>
          <p:cNvSpPr/>
          <p:nvPr/>
        </p:nvSpPr>
        <p:spPr>
          <a:xfrm>
            <a:off x="502920" y="914400"/>
            <a:ext cx="10972800" cy="3200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l">
              <a:defRPr sz="1200" b="0">
                <a:solidFill>
                  <a:srgbClr val="627080"/>
                </a:solidFill>
                <a:latin typeface="Microsoft YaHei"/>
              </a:defRPr>
            </a:pPr>
            <a:r>
              <a:t>方法与工具基础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2377440" cy="658368"/>
          </a:xfrm>
          <a:prstGeom prst="roundRect">
            <a:avLst/>
          </a:prstGeom>
          <a:solidFill>
            <a:srgbClr val="12233A"/>
          </a:solidFill>
          <a:ln>
            <a:solidFill>
              <a:srgbClr val="12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SWAN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325880"/>
            <a:ext cx="7909560" cy="658368"/>
          </a:xfrm>
          <a:prstGeom prst="round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l">
              <a:defRPr sz="1900" b="0">
                <a:solidFill>
                  <a:srgbClr val="1E2630"/>
                </a:solidFill>
                <a:latin typeface="Microsoft YaHei"/>
              </a:defRPr>
            </a:pPr>
            <a:r>
              <a:t>AMR语义水印与模板匹配检测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258568"/>
            <a:ext cx="2377440" cy="658368"/>
          </a:xfrm>
          <a:prstGeom prst="roundRect">
            <a:avLst/>
          </a:prstGeom>
          <a:solidFill>
            <a:srgbClr val="12233A"/>
          </a:solidFill>
          <a:ln>
            <a:solidFill>
              <a:srgbClr val="12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AMR / BART parser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2258568"/>
            <a:ext cx="7909560" cy="658368"/>
          </a:xfrm>
          <a:prstGeom prst="round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l">
              <a:defRPr sz="1900" b="0">
                <a:solidFill>
                  <a:srgbClr val="1E2630"/>
                </a:solidFill>
                <a:latin typeface="Microsoft YaHei"/>
              </a:defRPr>
            </a:pPr>
            <a:r>
              <a:t>把自然语言重新解析为语义图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191256"/>
            <a:ext cx="2377440" cy="658368"/>
          </a:xfrm>
          <a:prstGeom prst="roundRect">
            <a:avLst/>
          </a:prstGeom>
          <a:solidFill>
            <a:srgbClr val="12233A"/>
          </a:solidFill>
          <a:ln>
            <a:solidFill>
              <a:srgbClr val="12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S2MATCH / 图匹配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3191256"/>
            <a:ext cx="7909560" cy="658368"/>
          </a:xfrm>
          <a:prstGeom prst="round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l">
              <a:defRPr sz="1900" b="0">
                <a:solidFill>
                  <a:srgbClr val="1E2630"/>
                </a:solidFill>
                <a:latin typeface="Microsoft YaHei"/>
              </a:defRPr>
            </a:pPr>
            <a:r>
              <a:t>度量概念、角色与子图匹配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123944"/>
            <a:ext cx="2377440" cy="658368"/>
          </a:xfrm>
          <a:prstGeom prst="roundRect">
            <a:avLst/>
          </a:prstGeom>
          <a:solidFill>
            <a:srgbClr val="12233A"/>
          </a:solidFill>
          <a:ln>
            <a:solidFill>
              <a:srgbClr val="12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DeepSeek 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4123944"/>
            <a:ext cx="7909560" cy="658368"/>
          </a:xfrm>
          <a:prstGeom prst="round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l">
              <a:defRPr sz="1900" b="0">
                <a:solidFill>
                  <a:srgbClr val="1E2630"/>
                </a:solidFill>
                <a:latin typeface="Microsoft YaHei"/>
              </a:defRPr>
            </a:pPr>
            <a:r>
              <a:t>生成整段改写与攻击候选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5056632"/>
            <a:ext cx="2377440" cy="658368"/>
          </a:xfrm>
          <a:prstGeom prst="roundRect">
            <a:avLst/>
          </a:prstGeom>
          <a:solidFill>
            <a:srgbClr val="12233A"/>
          </a:solidFill>
          <a:ln>
            <a:solidFill>
              <a:srgbClr val="12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RealNews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5056632"/>
            <a:ext cx="7909560" cy="658368"/>
          </a:xfrm>
          <a:prstGeom prst="round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l">
              <a:defRPr sz="1900" b="0">
                <a:solidFill>
                  <a:srgbClr val="1E2630"/>
                </a:solidFill>
                <a:latin typeface="Microsoft YaHei"/>
              </a:defRPr>
            </a:pPr>
            <a:r>
              <a:t>正式评估语料：250个完整段落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292840" y="6510528"/>
            <a:ext cx="457200" cy="20116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r">
              <a:defRPr sz="1000" b="0">
                <a:solidFill>
                  <a:srgbClr val="627080"/>
                </a:solidFill>
                <a:latin typeface="Microsoft YaHe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28600"/>
            <a:ext cx="11155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l">
              <a:defRPr sz="2700" b="1">
                <a:solidFill>
                  <a:srgbClr val="12233A"/>
                </a:solidFill>
                <a:latin typeface="Microsoft YaHei"/>
              </a:defRPr>
            </a:pPr>
            <a:r>
              <a:t>4. 攻击路线如何演进？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95528"/>
            <a:ext cx="914400" cy="64008"/>
          </a:xfrm>
          <a:prstGeom prst="rect">
            <a:avLst/>
          </a:prstGeom>
          <a:solidFill>
            <a:srgbClr val="2DAABE"/>
          </a:solidFill>
          <a:ln>
            <a:solidFill>
              <a:srgbClr val="2DA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l">
              <a:defRPr sz="100" b="0">
                <a:solidFill>
                  <a:srgbClr val="2DAABE"/>
                </a:solidFill>
                <a:latin typeface="Microsoft YaHei"/>
              </a:defRPr>
            </a:pPr>
          </a:p>
        </p:txBody>
      </p:sp>
      <p:sp>
        <p:nvSpPr>
          <p:cNvPr id="4" name="Rectangle 3"/>
          <p:cNvSpPr/>
          <p:nvPr/>
        </p:nvSpPr>
        <p:spPr>
          <a:xfrm>
            <a:off x="502920" y="914400"/>
            <a:ext cx="10972800" cy="3200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l">
              <a:defRPr sz="1200" b="0">
                <a:solidFill>
                  <a:srgbClr val="627080"/>
                </a:solidFill>
                <a:latin typeface="Microsoft YaHei"/>
              </a:defRPr>
            </a:pPr>
            <a:r>
              <a:t>从单算子试探到反馈式候选搜索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45920"/>
            <a:ext cx="2423160" cy="566928"/>
          </a:xfrm>
          <a:prstGeom prst="roundRect">
            <a:avLst/>
          </a:prstGeom>
          <a:solidFill>
            <a:srgbClr val="2769B4"/>
          </a:solidFill>
          <a:ln>
            <a:solidFill>
              <a:srgbClr val="27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E1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331720"/>
            <a:ext cx="2423160" cy="1188720"/>
          </a:xfrm>
          <a:prstGeom prst="roundRect">
            <a:avLst/>
          </a:prstGeom>
          <a:solidFill>
            <a:srgbClr val="F2F6FA"/>
          </a:solidFill>
          <a:ln>
            <a:solidFill>
              <a:srgbClr val="27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ctr">
              <a:defRPr sz="1800" b="1">
                <a:solidFill>
                  <a:srgbClr val="12233A"/>
                </a:solidFill>
                <a:latin typeface="Microsoft YaHei"/>
              </a:defRPr>
            </a:pPr>
            <a:r>
              <a:t>跨语言往返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703320"/>
            <a:ext cx="2423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ctr">
              <a:defRPr sz="1500" b="0">
                <a:solidFill>
                  <a:srgbClr val="627080"/>
                </a:solidFill>
                <a:latin typeface="Microsoft YaHei"/>
              </a:defRPr>
            </a:pPr>
            <a:r>
              <a:t>低分率 16.7–20.0%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81528" y="2761488"/>
            <a:ext cx="347472" cy="118872"/>
          </a:xfrm>
          <a:prstGeom prst="roundRect">
            <a:avLst/>
          </a:prstGeom>
          <a:solidFill>
            <a:srgbClr val="2DAABE"/>
          </a:solidFill>
          <a:ln>
            <a:solidFill>
              <a:srgbClr val="2DA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l">
              <a:defRPr sz="100" b="0">
                <a:solidFill>
                  <a:srgbClr val="1E2630"/>
                </a:solidFill>
                <a:latin typeface="Microsoft YaHei"/>
              </a:defRPr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3474720" y="1645920"/>
            <a:ext cx="2423160" cy="566928"/>
          </a:xfrm>
          <a:prstGeom prst="roundRect">
            <a:avLst/>
          </a:prstGeom>
          <a:solidFill>
            <a:srgbClr val="2769B4"/>
          </a:solidFill>
          <a:ln>
            <a:solidFill>
              <a:srgbClr val="27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E2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331720"/>
            <a:ext cx="2423160" cy="1188720"/>
          </a:xfrm>
          <a:prstGeom prst="roundRect">
            <a:avLst/>
          </a:prstGeom>
          <a:solidFill>
            <a:srgbClr val="F2F6FA"/>
          </a:solidFill>
          <a:ln>
            <a:solidFill>
              <a:srgbClr val="27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ctr">
              <a:defRPr sz="1800" b="1">
                <a:solidFill>
                  <a:srgbClr val="12233A"/>
                </a:solidFill>
                <a:latin typeface="Microsoft YaHei"/>
              </a:defRPr>
            </a:pPr>
            <a:r>
              <a:t>整段多候选 + SWAN反馈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3703320"/>
            <a:ext cx="2423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ctr">
              <a:defRPr sz="1500" b="0">
                <a:solidFill>
                  <a:srgbClr val="627080"/>
                </a:solidFill>
                <a:latin typeface="Microsoft YaHei"/>
              </a:defRPr>
            </a:pPr>
            <a:r>
              <a:t>形成当前主攻击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61888" y="2761488"/>
            <a:ext cx="347472" cy="118872"/>
          </a:xfrm>
          <a:prstGeom prst="roundRect">
            <a:avLst/>
          </a:prstGeom>
          <a:solidFill>
            <a:srgbClr val="2DAABE"/>
          </a:solidFill>
          <a:ln>
            <a:solidFill>
              <a:srgbClr val="2DA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l">
              <a:defRPr sz="100" b="0">
                <a:solidFill>
                  <a:srgbClr val="1E2630"/>
                </a:solidFill>
                <a:latin typeface="Microsoft YaHei"/>
              </a:defRPr>
            </a:pPr>
          </a:p>
        </p:txBody>
      </p:sp>
      <p:sp>
        <p:nvSpPr>
          <p:cNvPr id="13" name="Rounded Rectangle 12"/>
          <p:cNvSpPr/>
          <p:nvPr/>
        </p:nvSpPr>
        <p:spPr>
          <a:xfrm>
            <a:off x="6355080" y="1645920"/>
            <a:ext cx="2423160" cy="566928"/>
          </a:xfrm>
          <a:prstGeom prst="roundRect">
            <a:avLst/>
          </a:prstGeom>
          <a:solidFill>
            <a:srgbClr val="2769B4"/>
          </a:solidFill>
          <a:ln>
            <a:solidFill>
              <a:srgbClr val="27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E3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2331720"/>
            <a:ext cx="2423160" cy="1188720"/>
          </a:xfrm>
          <a:prstGeom prst="roundRect">
            <a:avLst/>
          </a:prstGeom>
          <a:solidFill>
            <a:srgbClr val="F2F6FA"/>
          </a:solidFill>
          <a:ln>
            <a:solidFill>
              <a:srgbClr val="27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ctr">
              <a:defRPr sz="1800" b="1">
                <a:solidFill>
                  <a:srgbClr val="12233A"/>
                </a:solidFill>
                <a:latin typeface="Microsoft YaHei"/>
              </a:defRPr>
            </a:pPr>
            <a:r>
              <a:t>跨语言 + AMR扰动组合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3703320"/>
            <a:ext cx="2423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ctr">
              <a:defRPr sz="1500" b="0">
                <a:solidFill>
                  <a:srgbClr val="627080"/>
                </a:solidFill>
                <a:latin typeface="Microsoft YaHei"/>
              </a:defRPr>
            </a:pPr>
            <a:r>
              <a:t>未明显超过E2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42248" y="2761488"/>
            <a:ext cx="347472" cy="118872"/>
          </a:xfrm>
          <a:prstGeom prst="roundRect">
            <a:avLst/>
          </a:prstGeom>
          <a:solidFill>
            <a:srgbClr val="2DAABE"/>
          </a:solidFill>
          <a:ln>
            <a:solidFill>
              <a:srgbClr val="2DA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l">
              <a:defRPr sz="100" b="0">
                <a:solidFill>
                  <a:srgbClr val="1E2630"/>
                </a:solidFill>
                <a:latin typeface="Microsoft YaHei"/>
              </a:defRPr>
            </a:pPr>
          </a:p>
        </p:txBody>
      </p:sp>
      <p:sp>
        <p:nvSpPr>
          <p:cNvPr id="17" name="Rounded Rectangle 16"/>
          <p:cNvSpPr/>
          <p:nvPr/>
        </p:nvSpPr>
        <p:spPr>
          <a:xfrm>
            <a:off x="9235440" y="1645920"/>
            <a:ext cx="2423160" cy="566928"/>
          </a:xfrm>
          <a:prstGeom prst="roundRect">
            <a:avLst/>
          </a:prstGeom>
          <a:solidFill>
            <a:srgbClr val="2769B4"/>
          </a:solidFill>
          <a:ln>
            <a:solidFill>
              <a:srgbClr val="27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增强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2331720"/>
            <a:ext cx="2423160" cy="1188720"/>
          </a:xfrm>
          <a:prstGeom prst="roundRect">
            <a:avLst/>
          </a:prstGeom>
          <a:solidFill>
            <a:srgbClr val="F2F6FA"/>
          </a:solidFill>
          <a:ln>
            <a:solidFill>
              <a:srgbClr val="27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ctr">
              <a:defRPr sz="1800" b="1">
                <a:solidFill>
                  <a:srgbClr val="12233A"/>
                </a:solidFill>
                <a:latin typeface="Microsoft YaHei"/>
              </a:defRPr>
            </a:pPr>
            <a:r>
              <a:t>质量感知 + 自适应补救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3703320"/>
            <a:ext cx="2423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ctr">
              <a:defRPr sz="1500" b="0">
                <a:solidFill>
                  <a:srgbClr val="627080"/>
                </a:solidFill>
                <a:latin typeface="Microsoft YaHei"/>
              </a:defRPr>
            </a:pPr>
            <a:r>
              <a:t>降低语义失败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" y="5166360"/>
            <a:ext cx="10058400" cy="640080"/>
          </a:xfrm>
          <a:prstGeom prst="roundRect">
            <a:avLst/>
          </a:prstGeom>
          <a:solidFill>
            <a:srgbClr val="E2F6EF"/>
          </a:solidFill>
          <a:ln>
            <a:solidFill>
              <a:srgbClr val="2F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ctr">
              <a:defRPr sz="2000" b="1">
                <a:solidFill>
                  <a:srgbClr val="2F915F"/>
                </a:solidFill>
                <a:latin typeface="Microsoft YaHei"/>
              </a:defRPr>
            </a:pPr>
            <a:r>
              <a:t>关键发现：最强因素不是某一个句法变换，而是“生成多个候选 + 检测器反馈选优”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292840" y="6510528"/>
            <a:ext cx="457200" cy="20116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r">
              <a:defRPr sz="1000" b="0">
                <a:solidFill>
                  <a:srgbClr val="627080"/>
                </a:solidFill>
                <a:latin typeface="Microsoft YaHe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28600"/>
            <a:ext cx="11155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l">
              <a:defRPr sz="2700" b="1">
                <a:solidFill>
                  <a:srgbClr val="12233A"/>
                </a:solidFill>
                <a:latin typeface="Microsoft YaHei"/>
              </a:defRPr>
            </a:pPr>
            <a:r>
              <a:t>5. 当前最强攻击怎么做？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95528"/>
            <a:ext cx="914400" cy="64008"/>
          </a:xfrm>
          <a:prstGeom prst="rect">
            <a:avLst/>
          </a:prstGeom>
          <a:solidFill>
            <a:srgbClr val="2DAABE"/>
          </a:solidFill>
          <a:ln>
            <a:solidFill>
              <a:srgbClr val="2DA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l">
              <a:defRPr sz="100" b="0">
                <a:solidFill>
                  <a:srgbClr val="2DAABE"/>
                </a:solidFill>
                <a:latin typeface="Microsoft YaHei"/>
              </a:defRPr>
            </a:pPr>
          </a:p>
        </p:txBody>
      </p:sp>
      <p:sp>
        <p:nvSpPr>
          <p:cNvPr id="4" name="Rectangle 3"/>
          <p:cNvSpPr/>
          <p:nvPr/>
        </p:nvSpPr>
        <p:spPr>
          <a:xfrm>
            <a:off x="502920" y="914400"/>
            <a:ext cx="10972800" cy="3200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l">
              <a:defRPr sz="1200" b="0">
                <a:solidFill>
                  <a:srgbClr val="627080"/>
                </a:solidFill>
                <a:latin typeface="Microsoft YaHei"/>
              </a:defRPr>
            </a:pPr>
            <a:r>
              <a:t>E2：质量感知的检测器反馈搜索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828800"/>
            <a:ext cx="196596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27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ctr">
              <a:defRPr sz="1800" b="1">
                <a:solidFill>
                  <a:srgbClr val="12233A"/>
                </a:solidFill>
                <a:latin typeface="Microsoft YaHei"/>
              </a:defRPr>
            </a:pPr>
            <a:r>
              <a:t>① 原段落</a:t>
            </a:r>
            <a:br/>
            <a:r>
              <a:t>250段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04872" y="2359152"/>
            <a:ext cx="310896" cy="109728"/>
          </a:xfrm>
          <a:prstGeom prst="roundRect">
            <a:avLst/>
          </a:prstGeom>
          <a:solidFill>
            <a:srgbClr val="2DAABE"/>
          </a:solidFill>
          <a:ln>
            <a:solidFill>
              <a:srgbClr val="2DA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l">
              <a:defRPr sz="100" b="0">
                <a:solidFill>
                  <a:srgbClr val="1E2630"/>
                </a:solidFill>
                <a:latin typeface="Microsoft YaHei"/>
              </a:defRPr>
            </a:pPr>
          </a:p>
        </p:txBody>
      </p:sp>
      <p:sp>
        <p:nvSpPr>
          <p:cNvPr id="7" name="Rounded Rectangle 6"/>
          <p:cNvSpPr/>
          <p:nvPr/>
        </p:nvSpPr>
        <p:spPr>
          <a:xfrm>
            <a:off x="2770632" y="1828800"/>
            <a:ext cx="196596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27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ctr">
              <a:defRPr sz="1800" b="1">
                <a:solidFill>
                  <a:srgbClr val="12233A"/>
                </a:solidFill>
                <a:latin typeface="Microsoft YaHei"/>
              </a:defRPr>
            </a:pPr>
            <a:r>
              <a:t>② 生成候选</a:t>
            </a:r>
            <a:br/>
            <a:r>
              <a:t>每段4个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64024" y="2359152"/>
            <a:ext cx="310896" cy="109728"/>
          </a:xfrm>
          <a:prstGeom prst="roundRect">
            <a:avLst/>
          </a:prstGeom>
          <a:solidFill>
            <a:srgbClr val="2DAABE"/>
          </a:solidFill>
          <a:ln>
            <a:solidFill>
              <a:srgbClr val="2DA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l">
              <a:defRPr sz="100" b="0">
                <a:solidFill>
                  <a:srgbClr val="1E2630"/>
                </a:solidFill>
                <a:latin typeface="Microsoft YaHei"/>
              </a:defRPr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5129784" y="1828800"/>
            <a:ext cx="196596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27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ctr">
              <a:defRPr sz="1800" b="1">
                <a:solidFill>
                  <a:srgbClr val="12233A"/>
                </a:solidFill>
                <a:latin typeface="Microsoft YaHei"/>
              </a:defRPr>
            </a:pPr>
            <a:r>
              <a:t>③ AMR重解析</a:t>
            </a:r>
            <a:br/>
            <a:r>
              <a:t>1000个图组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23176" y="2359152"/>
            <a:ext cx="310896" cy="109728"/>
          </a:xfrm>
          <a:prstGeom prst="roundRect">
            <a:avLst/>
          </a:prstGeom>
          <a:solidFill>
            <a:srgbClr val="2DAABE"/>
          </a:solidFill>
          <a:ln>
            <a:solidFill>
              <a:srgbClr val="2DA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l">
              <a:defRPr sz="100" b="0">
                <a:solidFill>
                  <a:srgbClr val="1E2630"/>
                </a:solidFill>
                <a:latin typeface="Microsoft YaHei"/>
              </a:defRPr>
            </a:pPr>
          </a:p>
        </p:txBody>
      </p:sp>
      <p:sp>
        <p:nvSpPr>
          <p:cNvPr id="11" name="Rounded Rectangle 10"/>
          <p:cNvSpPr/>
          <p:nvPr/>
        </p:nvSpPr>
        <p:spPr>
          <a:xfrm>
            <a:off x="7488936" y="1828800"/>
            <a:ext cx="196596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27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ctr">
              <a:defRPr sz="1800" b="1">
                <a:solidFill>
                  <a:srgbClr val="12233A"/>
                </a:solidFill>
                <a:latin typeface="Microsoft YaHei"/>
              </a:defRPr>
            </a:pPr>
            <a:r>
              <a:t>④ 质量过滤</a:t>
            </a:r>
            <a:br/>
            <a:r>
              <a:t>事实/实体/否定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82328" y="2359152"/>
            <a:ext cx="310896" cy="109728"/>
          </a:xfrm>
          <a:prstGeom prst="roundRect">
            <a:avLst/>
          </a:prstGeom>
          <a:solidFill>
            <a:srgbClr val="2DAABE"/>
          </a:solidFill>
          <a:ln>
            <a:solidFill>
              <a:srgbClr val="2DA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l">
              <a:defRPr sz="100" b="0">
                <a:solidFill>
                  <a:srgbClr val="1E2630"/>
                </a:solidFill>
                <a:latin typeface="Microsoft YaHei"/>
              </a:defRPr>
            </a:pPr>
          </a:p>
        </p:txBody>
      </p:sp>
      <p:sp>
        <p:nvSpPr>
          <p:cNvPr id="13" name="Rounded Rectangle 12"/>
          <p:cNvSpPr/>
          <p:nvPr/>
        </p:nvSpPr>
        <p:spPr>
          <a:xfrm>
            <a:off x="9848088" y="1828800"/>
            <a:ext cx="196596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27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ctr">
              <a:defRPr sz="1800" b="1">
                <a:solidFill>
                  <a:srgbClr val="12233A"/>
                </a:solidFill>
                <a:latin typeface="Microsoft YaHei"/>
              </a:defRPr>
            </a:pPr>
            <a:r>
              <a:t>⑤ SWAN评分</a:t>
            </a:r>
            <a:br/>
            <a:r>
              <a:t>选择最低z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3977639"/>
            <a:ext cx="10149840" cy="1143000"/>
          </a:xfrm>
          <a:prstGeom prst="roundRect">
            <a:avLst/>
          </a:prstGeom>
          <a:solidFill>
            <a:srgbClr val="FFF1E0"/>
          </a:solidFill>
          <a:ln>
            <a:solidFill>
              <a:srgbClr val="EB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ctr">
              <a:defRPr sz="2200" b="1">
                <a:solidFill>
                  <a:srgbClr val="EB912D"/>
                </a:solidFill>
                <a:latin typeface="Microsoft YaHei"/>
              </a:defRPr>
            </a:pPr>
            <a:r>
              <a:t>失败样本 → 定向追加4个候选 → 再解析 → 再过滤 → 再选优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292840" y="6510528"/>
            <a:ext cx="457200" cy="20116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r">
              <a:defRPr sz="1000" b="0">
                <a:solidFill>
                  <a:srgbClr val="627080"/>
                </a:solidFill>
                <a:latin typeface="Microsoft YaHe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28600"/>
            <a:ext cx="11155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l">
              <a:defRPr sz="2700" b="1">
                <a:solidFill>
                  <a:srgbClr val="12233A"/>
                </a:solidFill>
                <a:latin typeface="Microsoft YaHei"/>
              </a:defRPr>
            </a:pPr>
            <a:r>
              <a:t>6. 实验设置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95528"/>
            <a:ext cx="914400" cy="64008"/>
          </a:xfrm>
          <a:prstGeom prst="rect">
            <a:avLst/>
          </a:prstGeom>
          <a:solidFill>
            <a:srgbClr val="2DAABE"/>
          </a:solidFill>
          <a:ln>
            <a:solidFill>
              <a:srgbClr val="2DA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l">
              <a:defRPr sz="100" b="0">
                <a:solidFill>
                  <a:srgbClr val="2DAABE"/>
                </a:solidFill>
                <a:latin typeface="Microsoft YaHei"/>
              </a:defRPr>
            </a:pPr>
          </a:p>
        </p:txBody>
      </p:sp>
      <p:sp>
        <p:nvSpPr>
          <p:cNvPr id="4" name="Rectangle 3"/>
          <p:cNvSpPr/>
          <p:nvPr/>
        </p:nvSpPr>
        <p:spPr>
          <a:xfrm>
            <a:off x="502920" y="914400"/>
            <a:ext cx="10972800" cy="3200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l">
              <a:defRPr sz="1200" b="0">
                <a:solidFill>
                  <a:srgbClr val="627080"/>
                </a:solidFill>
                <a:latin typeface="Microsoft YaHei"/>
              </a:defRPr>
            </a:pPr>
            <a:r>
              <a:t>正式冻结配置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196596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27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ctr">
              <a:defRPr sz="1800" b="1">
                <a:solidFill>
                  <a:srgbClr val="12233A"/>
                </a:solidFill>
                <a:latin typeface="Microsoft YaHei"/>
              </a:defRPr>
            </a:pPr>
            <a:r>
              <a:t>数据</a:t>
            </a:r>
            <a:br/>
            <a:br/>
            <a:r>
              <a:t>RealNews</a:t>
            </a:r>
            <a:br/>
            <a:r>
              <a:t>250个完整段落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39" y="1600200"/>
            <a:ext cx="196596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27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ctr">
              <a:defRPr sz="1800" b="1">
                <a:solidFill>
                  <a:srgbClr val="12233A"/>
                </a:solidFill>
                <a:latin typeface="Microsoft YaHei"/>
              </a:defRPr>
            </a:pPr>
            <a:r>
              <a:t>候选</a:t>
            </a:r>
            <a:br/>
            <a:br/>
            <a:r>
              <a:t>4 × 250</a:t>
            </a:r>
            <a:br/>
            <a:r>
              <a:t>共1000个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66359" y="1600200"/>
            <a:ext cx="196596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27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ctr">
              <a:defRPr sz="1800" b="1">
                <a:solidFill>
                  <a:srgbClr val="12233A"/>
                </a:solidFill>
                <a:latin typeface="Microsoft YaHei"/>
              </a:defRPr>
            </a:pPr>
            <a:r>
              <a:t>解析</a:t>
            </a:r>
            <a:br/>
            <a:br/>
            <a:r>
              <a:t>RTX 4060</a:t>
            </a:r>
            <a:br/>
            <a:r>
              <a:t>BART AMR parser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600200"/>
            <a:ext cx="196596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27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ctr">
              <a:defRPr sz="1800" b="1">
                <a:solidFill>
                  <a:srgbClr val="12233A"/>
                </a:solidFill>
                <a:latin typeface="Microsoft YaHei"/>
              </a:defRPr>
            </a:pPr>
            <a:r>
              <a:t>检测</a:t>
            </a:r>
            <a:br/>
            <a:br/>
            <a:r>
              <a:t>SWAN</a:t>
            </a:r>
            <a:br/>
            <a:r>
              <a:t>阈值 z≤2.33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29800" y="1600200"/>
            <a:ext cx="196596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27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ctr">
              <a:defRPr sz="1800" b="1">
                <a:solidFill>
                  <a:srgbClr val="12233A"/>
                </a:solidFill>
                <a:latin typeface="Microsoft YaHei"/>
              </a:defRPr>
            </a:pPr>
            <a:r>
              <a:t>生成</a:t>
            </a:r>
            <a:br/>
            <a:br/>
            <a:r>
              <a:t>DeepSeek API</a:t>
            </a:r>
            <a:br/>
            <a:r>
              <a:t>整段联合改写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977639"/>
            <a:ext cx="10607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1E2630"/>
                </a:solidFill>
                <a:latin typeface="Microsoft YaHei"/>
              </a:defRPr>
            </a:pPr>
            <a:r>
              <a:t>• 本地GPU负责AMR解析；CPU负责匹配与统计；API负责候选生成</a:t>
            </a:r>
          </a:p>
          <a:p>
            <a:pPr>
              <a:spcAft>
                <a:spcPts val="1300"/>
              </a:spcAft>
              <a:defRPr sz="1800">
                <a:solidFill>
                  <a:srgbClr val="1E2630"/>
                </a:solidFill>
                <a:latin typeface="Microsoft YaHei"/>
              </a:defRPr>
            </a:pPr>
            <a:r>
              <a:t>• 显存不足时采用batch_size=4分块解析，不改变模型或实验定义</a:t>
            </a:r>
          </a:p>
          <a:p>
            <a:pPr>
              <a:spcAft>
                <a:spcPts val="1300"/>
              </a:spcAft>
              <a:defRPr sz="1800">
                <a:solidFill>
                  <a:srgbClr val="1E2630"/>
                </a:solidFill>
                <a:latin typeface="Microsoft YaHei"/>
              </a:defRPr>
            </a:pPr>
            <a:r>
              <a:t>• 最终结果以段落级配对统计为单位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292840" y="6510528"/>
            <a:ext cx="457200" cy="20116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r">
              <a:defRPr sz="1000" b="0">
                <a:solidFill>
                  <a:srgbClr val="627080"/>
                </a:solidFill>
                <a:latin typeface="Microsoft YaHe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28600"/>
            <a:ext cx="11155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l">
              <a:defRPr sz="2700" b="1">
                <a:solidFill>
                  <a:srgbClr val="12233A"/>
                </a:solidFill>
                <a:latin typeface="Microsoft YaHei"/>
              </a:defRPr>
            </a:pPr>
            <a:r>
              <a:t>7. 检测规避结果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95528"/>
            <a:ext cx="914400" cy="64008"/>
          </a:xfrm>
          <a:prstGeom prst="rect">
            <a:avLst/>
          </a:prstGeom>
          <a:solidFill>
            <a:srgbClr val="2DAABE"/>
          </a:solidFill>
          <a:ln>
            <a:solidFill>
              <a:srgbClr val="2DA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l">
              <a:defRPr sz="100" b="0">
                <a:solidFill>
                  <a:srgbClr val="2DAABE"/>
                </a:solidFill>
                <a:latin typeface="Microsoft YaHei"/>
              </a:defRPr>
            </a:pPr>
          </a:p>
        </p:txBody>
      </p:sp>
      <p:sp>
        <p:nvSpPr>
          <p:cNvPr id="4" name="Rectangle 3"/>
          <p:cNvSpPr/>
          <p:nvPr/>
        </p:nvSpPr>
        <p:spPr>
          <a:xfrm>
            <a:off x="502920" y="914400"/>
            <a:ext cx="10972800" cy="3200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l">
              <a:defRPr sz="1200" b="0">
                <a:solidFill>
                  <a:srgbClr val="627080"/>
                </a:solidFill>
                <a:latin typeface="Microsoft YaHei"/>
              </a:defRPr>
            </a:pPr>
            <a:r>
              <a:t>攻击对SWAN区分能力造成显著下降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2423160" cy="1143000"/>
          </a:xfrm>
          <a:prstGeom prst="roundRect">
            <a:avLst/>
          </a:prstGeom>
          <a:solidFill>
            <a:srgbClr val="2F915F"/>
          </a:solidFill>
          <a:ln>
            <a:solidFill>
              <a:srgbClr val="2F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ctr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99.6%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43200"/>
            <a:ext cx="2423160" cy="1005840"/>
          </a:xfrm>
          <a:prstGeom prst="round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ctr">
              <a:defRPr sz="1700" b="0">
                <a:solidFill>
                  <a:srgbClr val="1E2630"/>
                </a:solidFill>
                <a:latin typeface="Microsoft YaHei"/>
              </a:defRPr>
            </a:pPr>
            <a:r>
              <a:t>249/250</a:t>
            </a:r>
            <a:br/>
            <a:r>
              <a:t>选优候选低于阈值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93008" y="1508760"/>
            <a:ext cx="2423160" cy="1143000"/>
          </a:xfrm>
          <a:prstGeom prst="roundRect">
            <a:avLst/>
          </a:prstGeom>
          <a:solidFill>
            <a:srgbClr val="2769B4"/>
          </a:solidFill>
          <a:ln>
            <a:solidFill>
              <a:srgbClr val="27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ctr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0.728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93008" y="2743200"/>
            <a:ext cx="2423160" cy="1005840"/>
          </a:xfrm>
          <a:prstGeom prst="round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ctr">
              <a:defRPr sz="1700" b="0">
                <a:solidFill>
                  <a:srgbClr val="1E2630"/>
                </a:solidFill>
                <a:latin typeface="Microsoft YaHei"/>
              </a:defRPr>
            </a:pPr>
            <a:r>
              <a:t>AUROC</a:t>
            </a:r>
            <a:br/>
            <a:r>
              <a:t>基线约0.985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45936" y="1508760"/>
            <a:ext cx="2423160" cy="1143000"/>
          </a:xfrm>
          <a:prstGeom prst="roundRect">
            <a:avLst/>
          </a:prstGeom>
          <a:solidFill>
            <a:srgbClr val="EB912D"/>
          </a:solidFill>
          <a:ln>
            <a:solidFill>
              <a:srgbClr val="EB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ctr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6.6%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45936" y="2743200"/>
            <a:ext cx="2423160" cy="1005840"/>
          </a:xfrm>
          <a:prstGeom prst="round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ctr">
              <a:defRPr sz="1700" b="0">
                <a:solidFill>
                  <a:srgbClr val="1E2630"/>
                </a:solidFill>
                <a:latin typeface="Microsoft YaHei"/>
              </a:defRPr>
            </a:pPr>
            <a:r>
              <a:t>TPR @ 1% FPR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98863" y="1508760"/>
            <a:ext cx="2423160" cy="1143000"/>
          </a:xfrm>
          <a:prstGeom prst="roundRect">
            <a:avLst/>
          </a:prstGeom>
          <a:solidFill>
            <a:srgbClr val="C94646"/>
          </a:solidFill>
          <a:ln>
            <a:solidFill>
              <a:srgbClr val="C9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ctr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12.6%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98863" y="2743200"/>
            <a:ext cx="2423160" cy="1005840"/>
          </a:xfrm>
          <a:prstGeom prst="round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ctr">
              <a:defRPr sz="1700" b="0">
                <a:solidFill>
                  <a:srgbClr val="1E2630"/>
                </a:solidFill>
                <a:latin typeface="Microsoft YaHei"/>
              </a:defRPr>
            </a:pPr>
            <a:r>
              <a:t>TPR @ 5% FPR</a:t>
            </a:r>
          </a:p>
        </p:txBody>
      </p:sp>
      <p:pic>
        <p:nvPicPr>
          <p:cNvPr id="13" name="Picture 12" descr="amr_roc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3931920"/>
            <a:ext cx="3977639" cy="214884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31520" y="4343400"/>
            <a:ext cx="3017520" cy="1234440"/>
          </a:xfrm>
          <a:prstGeom prst="roundRect">
            <a:avLst/>
          </a:prstGeom>
          <a:solidFill>
            <a:srgbClr val="E2F6EF"/>
          </a:solidFill>
          <a:ln>
            <a:solidFill>
              <a:srgbClr val="2F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ctr">
              <a:defRPr sz="2200" b="1">
                <a:solidFill>
                  <a:srgbClr val="2F915F"/>
                </a:solidFill>
                <a:latin typeface="Microsoft YaHei"/>
              </a:defRPr>
            </a:pPr>
            <a:r>
              <a:t>结论</a:t>
            </a:r>
            <a:br/>
            <a:r>
              <a:t>检测规避能力出现质变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292840" y="6510528"/>
            <a:ext cx="457200" cy="20116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r">
              <a:defRPr sz="1000" b="0">
                <a:solidFill>
                  <a:srgbClr val="627080"/>
                </a:solidFill>
                <a:latin typeface="Microsoft YaHe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28600"/>
            <a:ext cx="11155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l">
              <a:defRPr sz="2700" b="1">
                <a:solidFill>
                  <a:srgbClr val="12233A"/>
                </a:solidFill>
                <a:latin typeface="Microsoft YaHei"/>
              </a:defRPr>
            </a:pPr>
            <a:r>
              <a:t>8. 质量感知与自适应补救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95528"/>
            <a:ext cx="914400" cy="64008"/>
          </a:xfrm>
          <a:prstGeom prst="rect">
            <a:avLst/>
          </a:prstGeom>
          <a:solidFill>
            <a:srgbClr val="2DAABE"/>
          </a:solidFill>
          <a:ln>
            <a:solidFill>
              <a:srgbClr val="2DA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l">
              <a:defRPr sz="100" b="0">
                <a:solidFill>
                  <a:srgbClr val="2DAABE"/>
                </a:solidFill>
                <a:latin typeface="Microsoft YaHei"/>
              </a:defRPr>
            </a:pPr>
          </a:p>
        </p:txBody>
      </p:sp>
      <p:sp>
        <p:nvSpPr>
          <p:cNvPr id="4" name="Rectangle 3"/>
          <p:cNvSpPr/>
          <p:nvPr/>
        </p:nvSpPr>
        <p:spPr>
          <a:xfrm>
            <a:off x="502920" y="914400"/>
            <a:ext cx="10972800" cy="3200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l">
              <a:defRPr sz="1200" b="0">
                <a:solidFill>
                  <a:srgbClr val="627080"/>
                </a:solidFill>
                <a:latin typeface="Microsoft YaHei"/>
              </a:defRPr>
            </a:pPr>
            <a:r>
              <a:t>为什么“先过滤质量，再选最低分”更合理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00200"/>
            <a:ext cx="2971800" cy="1143000"/>
          </a:xfrm>
          <a:prstGeom prst="roundRect">
            <a:avLst/>
          </a:prstGeom>
          <a:solidFill>
            <a:srgbClr val="627080"/>
          </a:solidFill>
          <a:ln>
            <a:solidFill>
              <a:srgbClr val="62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ctr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59.6%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834640"/>
            <a:ext cx="2971800" cy="1097280"/>
          </a:xfrm>
          <a:prstGeom prst="round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ctr">
              <a:defRPr sz="1800" b="0">
                <a:solidFill>
                  <a:srgbClr val="1E2630"/>
                </a:solidFill>
                <a:latin typeface="Microsoft YaHei"/>
              </a:defRPr>
            </a:pPr>
            <a:r>
              <a:t>先选最低z</a:t>
            </a:r>
            <a:br/>
            <a:r>
              <a:t>再检查质量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7720" y="1600200"/>
            <a:ext cx="2971800" cy="1143000"/>
          </a:xfrm>
          <a:prstGeom prst="roundRect">
            <a:avLst/>
          </a:prstGeom>
          <a:solidFill>
            <a:srgbClr val="2769B4"/>
          </a:solidFill>
          <a:ln>
            <a:solidFill>
              <a:srgbClr val="27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ctr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76.4%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2834640"/>
            <a:ext cx="2971800" cy="1097280"/>
          </a:xfrm>
          <a:prstGeom prst="round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ctr">
              <a:defRPr sz="1800" b="0">
                <a:solidFill>
                  <a:srgbClr val="1E2630"/>
                </a:solidFill>
                <a:latin typeface="Microsoft YaHei"/>
              </a:defRPr>
            </a:pPr>
            <a:r>
              <a:t>先质量过滤</a:t>
            </a:r>
            <a:br/>
            <a:r>
              <a:t>再按z选优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600200"/>
            <a:ext cx="2971800" cy="1143000"/>
          </a:xfrm>
          <a:prstGeom prst="roundRect">
            <a:avLst/>
          </a:prstGeom>
          <a:solidFill>
            <a:srgbClr val="2F915F"/>
          </a:solidFill>
          <a:ln>
            <a:solidFill>
              <a:srgbClr val="2F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ctr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87.2%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2834640"/>
            <a:ext cx="2971800" cy="1097280"/>
          </a:xfrm>
          <a:prstGeom prst="round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ctr">
              <a:defRPr sz="1800" b="0">
                <a:solidFill>
                  <a:srgbClr val="1E2630"/>
                </a:solidFill>
                <a:latin typeface="Microsoft YaHei"/>
              </a:defRPr>
            </a:pPr>
            <a:r>
              <a:t>对失败段落</a:t>
            </a:r>
            <a:br/>
            <a:r>
              <a:t>自适应补救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4617720"/>
            <a:ext cx="10058400" cy="914400"/>
          </a:xfrm>
          <a:prstGeom prst="roundRect">
            <a:avLst/>
          </a:prstGeom>
          <a:solidFill>
            <a:srgbClr val="FFE8E8"/>
          </a:solidFill>
          <a:ln>
            <a:solidFill>
              <a:srgbClr val="C9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ctr">
              <a:defRPr sz="2000" b="1">
                <a:solidFill>
                  <a:srgbClr val="C94646"/>
                </a:solidFill>
                <a:latin typeface="Microsoft YaHei"/>
              </a:defRPr>
            </a:pPr>
            <a:r>
              <a:t>注意：87.2% 是宽松自动质量门下的结果，不是最终人工确认率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292840" y="6510528"/>
            <a:ext cx="457200" cy="20116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r">
              <a:defRPr sz="1000" b="0">
                <a:solidFill>
                  <a:srgbClr val="627080"/>
                </a:solidFill>
                <a:latin typeface="Microsoft YaHe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28600"/>
            <a:ext cx="11155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l">
              <a:defRPr sz="2700" b="1">
                <a:solidFill>
                  <a:srgbClr val="12233A"/>
                </a:solidFill>
                <a:latin typeface="Microsoft YaHei"/>
              </a:defRPr>
            </a:pPr>
            <a:r>
              <a:t>9. 失败案例与质量风险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95528"/>
            <a:ext cx="914400" cy="64008"/>
          </a:xfrm>
          <a:prstGeom prst="rect">
            <a:avLst/>
          </a:prstGeom>
          <a:solidFill>
            <a:srgbClr val="2DAABE"/>
          </a:solidFill>
          <a:ln>
            <a:solidFill>
              <a:srgbClr val="2DA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l">
              <a:defRPr sz="100" b="0">
                <a:solidFill>
                  <a:srgbClr val="2DAABE"/>
                </a:solidFill>
                <a:latin typeface="Microsoft YaHei"/>
              </a:defRPr>
            </a:pPr>
          </a:p>
        </p:txBody>
      </p:sp>
      <p:sp>
        <p:nvSpPr>
          <p:cNvPr id="4" name="Rectangle 3"/>
          <p:cNvSpPr/>
          <p:nvPr/>
        </p:nvSpPr>
        <p:spPr>
          <a:xfrm>
            <a:off x="502920" y="914400"/>
            <a:ext cx="10972800" cy="3200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l">
              <a:defRPr sz="1200" b="0">
                <a:solidFill>
                  <a:srgbClr val="627080"/>
                </a:solidFill>
                <a:latin typeface="Microsoft YaHei"/>
              </a:defRPr>
            </a:pPr>
            <a:r>
              <a:t>低检测分不等于有效攻击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2057400" cy="658368"/>
          </a:xfrm>
          <a:prstGeom prst="roundRect">
            <a:avLst/>
          </a:prstGeom>
          <a:solidFill>
            <a:srgbClr val="C94646"/>
          </a:solidFill>
          <a:ln>
            <a:solidFill>
              <a:srgbClr val="C9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否定反转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1234440"/>
            <a:ext cx="8321040" cy="658368"/>
          </a:xfrm>
          <a:prstGeom prst="round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l">
              <a:defRPr sz="1800" b="0">
                <a:solidFill>
                  <a:srgbClr val="1E2630"/>
                </a:solidFill>
                <a:latin typeface="Microsoft YaHei"/>
              </a:defRPr>
            </a:pPr>
            <a:r>
              <a:t>“没有宣布”被改成“确实介绍”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67128"/>
            <a:ext cx="2057400" cy="658368"/>
          </a:xfrm>
          <a:prstGeom prst="roundRect">
            <a:avLst/>
          </a:prstGeom>
          <a:solidFill>
            <a:srgbClr val="C94646"/>
          </a:solidFill>
          <a:ln>
            <a:solidFill>
              <a:srgbClr val="C9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实体歧义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2167128"/>
            <a:ext cx="8321040" cy="658368"/>
          </a:xfrm>
          <a:prstGeom prst="round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l">
              <a:defRPr sz="1800" b="0">
                <a:solidFill>
                  <a:srgbClr val="1E2630"/>
                </a:solidFill>
                <a:latin typeface="Microsoft YaHei"/>
              </a:defRPr>
            </a:pPr>
            <a:r>
              <a:t>Washington 与 Washington, D.C.混合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099816"/>
            <a:ext cx="2057400" cy="658368"/>
          </a:xfrm>
          <a:prstGeom prst="roundRect">
            <a:avLst/>
          </a:prstGeom>
          <a:solidFill>
            <a:srgbClr val="C94646"/>
          </a:solidFill>
          <a:ln>
            <a:solidFill>
              <a:srgbClr val="C9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新增信息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1800" y="3099816"/>
            <a:ext cx="8321040" cy="658368"/>
          </a:xfrm>
          <a:prstGeom prst="round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l">
              <a:defRPr sz="1800" b="0">
                <a:solidFill>
                  <a:srgbClr val="1E2630"/>
                </a:solidFill>
                <a:latin typeface="Microsoft YaHei"/>
              </a:defRPr>
            </a:pPr>
            <a:r>
              <a:t>加入源文不存在的原因或归因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032504"/>
            <a:ext cx="2057400" cy="658368"/>
          </a:xfrm>
          <a:prstGeom prst="roundRect">
            <a:avLst/>
          </a:prstGeom>
          <a:solidFill>
            <a:srgbClr val="C94646"/>
          </a:solidFill>
          <a:ln>
            <a:solidFill>
              <a:srgbClr val="C9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空泛退化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71800" y="4032504"/>
            <a:ext cx="8321040" cy="658368"/>
          </a:xfrm>
          <a:prstGeom prst="round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l">
              <a:defRPr sz="1800" b="0">
                <a:solidFill>
                  <a:srgbClr val="1E2630"/>
                </a:solidFill>
                <a:latin typeface="Microsoft YaHei"/>
              </a:defRPr>
            </a:pPr>
            <a:r>
              <a:t>大量something / unspecified relation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965192"/>
            <a:ext cx="2057400" cy="658368"/>
          </a:xfrm>
          <a:prstGeom prst="roundRect">
            <a:avLst/>
          </a:prstGeom>
          <a:solidFill>
            <a:srgbClr val="C94646"/>
          </a:solidFill>
          <a:ln>
            <a:solidFill>
              <a:srgbClr val="C9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可读性下降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71800" y="4965192"/>
            <a:ext cx="8321040" cy="658368"/>
          </a:xfrm>
          <a:prstGeom prst="round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l">
              <a:defRPr sz="1800" b="0">
                <a:solidFill>
                  <a:srgbClr val="1E2630"/>
                </a:solidFill>
                <a:latin typeface="Microsoft YaHei"/>
              </a:defRPr>
            </a:pPr>
            <a:r>
              <a:t>长句堆叠、循环定义、模板化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292840" y="6510528"/>
            <a:ext cx="457200" cy="20116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r">
              <a:defRPr sz="1000" b="0">
                <a:solidFill>
                  <a:srgbClr val="627080"/>
                </a:solidFill>
                <a:latin typeface="Microsoft YaHe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28600"/>
            <a:ext cx="11155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l">
              <a:defRPr sz="2700" b="1">
                <a:solidFill>
                  <a:srgbClr val="12233A"/>
                </a:solidFill>
                <a:latin typeface="Microsoft YaHei"/>
              </a:defRPr>
            </a:pPr>
            <a:r>
              <a:t>10. 人工复核告诉了我们什么？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95528"/>
            <a:ext cx="914400" cy="64008"/>
          </a:xfrm>
          <a:prstGeom prst="rect">
            <a:avLst/>
          </a:prstGeom>
          <a:solidFill>
            <a:srgbClr val="2DAABE"/>
          </a:solidFill>
          <a:ln>
            <a:solidFill>
              <a:srgbClr val="2DA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l">
              <a:defRPr sz="100" b="0">
                <a:solidFill>
                  <a:srgbClr val="2DAABE"/>
                </a:solidFill>
                <a:latin typeface="Microsoft YaHei"/>
              </a:defRPr>
            </a:pPr>
          </a:p>
        </p:txBody>
      </p:sp>
      <p:sp>
        <p:nvSpPr>
          <p:cNvPr id="4" name="Rectangle 3"/>
          <p:cNvSpPr/>
          <p:nvPr/>
        </p:nvSpPr>
        <p:spPr>
          <a:xfrm>
            <a:off x="502920" y="914400"/>
            <a:ext cx="10972800" cy="3200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l">
              <a:defRPr sz="1200" b="0">
                <a:solidFill>
                  <a:srgbClr val="627080"/>
                </a:solidFill>
                <a:latin typeface="Microsoft YaHei"/>
              </a:defRPr>
            </a:pPr>
            <a:r>
              <a:t>结果对质量标准高度敏感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3246120" cy="1828800"/>
          </a:xfrm>
          <a:prstGeom prst="roundRect">
            <a:avLst/>
          </a:prstGeom>
          <a:solidFill>
            <a:srgbClr val="E2F6EF"/>
          </a:solidFill>
          <a:ln>
            <a:solidFill>
              <a:srgbClr val="2F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ctr">
              <a:defRPr sz="2600" b="1">
                <a:solidFill>
                  <a:srgbClr val="2F915F"/>
                </a:solidFill>
                <a:latin typeface="Microsoft YaHei"/>
              </a:defRPr>
            </a:pPr>
            <a:r>
              <a:t>宽松自动门</a:t>
            </a:r>
            <a:br/>
            <a:br/>
            <a:r>
              <a:t>218 / 250</a:t>
            </a:r>
            <a:br/>
            <a:r>
              <a:t>87.2%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325880"/>
            <a:ext cx="3246120" cy="1828800"/>
          </a:xfrm>
          <a:prstGeom prst="roundRect">
            <a:avLst/>
          </a:prstGeom>
          <a:solidFill>
            <a:srgbClr val="FFF1E0"/>
          </a:solidFill>
          <a:ln>
            <a:solidFill>
              <a:srgbClr val="EB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ctr">
              <a:defRPr sz="2600" b="1">
                <a:solidFill>
                  <a:srgbClr val="EB912D"/>
                </a:solidFill>
                <a:latin typeface="Microsoft YaHei"/>
              </a:defRPr>
            </a:pPr>
            <a:r>
              <a:t>保守模型二审</a:t>
            </a:r>
            <a:br/>
            <a:br/>
            <a:r>
              <a:t>17 / 250</a:t>
            </a:r>
            <a:br/>
            <a:r>
              <a:t>6.8%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325880"/>
            <a:ext cx="3246120" cy="1828800"/>
          </a:xfrm>
          <a:prstGeom prst="roundRect">
            <a:avLst/>
          </a:prstGeom>
          <a:solidFill>
            <a:srgbClr val="FFE8E8"/>
          </a:solidFill>
          <a:ln>
            <a:solidFill>
              <a:srgbClr val="C9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ctr">
              <a:defRPr sz="2300" b="1">
                <a:solidFill>
                  <a:srgbClr val="C94646"/>
                </a:solidFill>
                <a:latin typeface="Microsoft YaHei"/>
              </a:defRPr>
            </a:pPr>
            <a:r>
              <a:t>分层60段首审</a:t>
            </a:r>
            <a:br/>
            <a:br/>
            <a:r>
              <a:t>7段严格有效</a:t>
            </a:r>
            <a:br/>
            <a:r>
              <a:t>5段同时规避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886200"/>
            <a:ext cx="10332720" cy="1325880"/>
          </a:xfrm>
          <a:prstGeom prst="roundRect">
            <a:avLst/>
          </a:prstGeom>
          <a:solidFill>
            <a:srgbClr val="12233A"/>
          </a:solidFill>
          <a:ln>
            <a:solidFill>
              <a:srgbClr val="12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ctr">
              <a:defRPr sz="2100" b="1">
                <a:solidFill>
                  <a:srgbClr val="FFFFFF"/>
                </a:solidFill>
                <a:latin typeface="Microsoft YaHei"/>
              </a:defRPr>
            </a:pPr>
            <a:r>
              <a:t>正确解读</a:t>
            </a:r>
            <a:br/>
            <a:r>
              <a:t>检测器确实被大幅削弱；但“保持语义的真实攻击成功率”尚不能只靠同一生成模型自动评分确定。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11292840" y="6510528"/>
            <a:ext cx="457200" cy="20116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r">
              <a:defRPr sz="1000" b="0">
                <a:solidFill>
                  <a:srgbClr val="627080"/>
                </a:solidFill>
                <a:latin typeface="Microsoft YaHe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28600"/>
            <a:ext cx="11155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l">
              <a:defRPr sz="2700" b="1">
                <a:solidFill>
                  <a:srgbClr val="12233A"/>
                </a:solidFill>
                <a:latin typeface="Microsoft YaHei"/>
              </a:defRPr>
            </a:pPr>
            <a:r>
              <a:t>11. 我们目前得到的结论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95528"/>
            <a:ext cx="914400" cy="64008"/>
          </a:xfrm>
          <a:prstGeom prst="rect">
            <a:avLst/>
          </a:prstGeom>
          <a:solidFill>
            <a:srgbClr val="2DAABE"/>
          </a:solidFill>
          <a:ln>
            <a:solidFill>
              <a:srgbClr val="2DA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l">
              <a:defRPr sz="100" b="0">
                <a:solidFill>
                  <a:srgbClr val="2DAABE"/>
                </a:solidFill>
                <a:latin typeface="Microsoft YaHei"/>
              </a:defRPr>
            </a:pPr>
          </a:p>
        </p:txBody>
      </p:sp>
      <p:sp>
        <p:nvSpPr>
          <p:cNvPr id="4" name="Rectangle 3"/>
          <p:cNvSpPr/>
          <p:nvPr/>
        </p:nvSpPr>
        <p:spPr>
          <a:xfrm>
            <a:off x="502920" y="914400"/>
            <a:ext cx="10972800" cy="3200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l">
              <a:defRPr sz="1200" b="0">
                <a:solidFill>
                  <a:srgbClr val="627080"/>
                </a:solidFill>
                <a:latin typeface="Microsoft YaHei"/>
              </a:defRPr>
            </a:pPr>
            <a:r>
              <a:t>可以说什么，暂时不能说什么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5303520" cy="4480560"/>
          </a:xfrm>
          <a:prstGeom prst="roundRect">
            <a:avLst/>
          </a:prstGeom>
          <a:solidFill>
            <a:srgbClr val="E2F6EF"/>
          </a:solidFill>
          <a:ln>
            <a:solidFill>
              <a:srgbClr val="2F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l">
              <a:defRPr sz="2400" b="1">
                <a:solidFill>
                  <a:srgbClr val="2F915F"/>
                </a:solidFill>
                <a:latin typeface="Microsoft YaHei"/>
              </a:defRPr>
            </a:pPr>
            <a:r>
              <a:t>可以明确说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1E2630"/>
                </a:solidFill>
                <a:latin typeface="Microsoft YaHei"/>
              </a:defRPr>
            </a:pPr>
            <a:r>
              <a:t>• 反馈式整段多候选搜索显著降低SWAN检测性能</a:t>
            </a:r>
          </a:p>
          <a:p>
            <a:pPr>
              <a:spcAft>
                <a:spcPts val="1300"/>
              </a:spcAft>
              <a:defRPr sz="1800">
                <a:solidFill>
                  <a:srgbClr val="1E2630"/>
                </a:solidFill>
                <a:latin typeface="Microsoft YaHei"/>
              </a:defRPr>
            </a:pPr>
            <a:r>
              <a:t>• 250段正式实验中，选优后249段低于阈值</a:t>
            </a:r>
          </a:p>
          <a:p>
            <a:pPr>
              <a:spcAft>
                <a:spcPts val="1300"/>
              </a:spcAft>
              <a:defRPr sz="1800">
                <a:solidFill>
                  <a:srgbClr val="1E2630"/>
                </a:solidFill>
                <a:latin typeface="Microsoft YaHei"/>
              </a:defRPr>
            </a:pPr>
            <a:r>
              <a:t>• 攻击效果不是由AMR解析失败造成</a:t>
            </a:r>
          </a:p>
          <a:p>
            <a:pPr>
              <a:spcAft>
                <a:spcPts val="1300"/>
              </a:spcAft>
              <a:defRPr sz="1800">
                <a:solidFill>
                  <a:srgbClr val="1E2630"/>
                </a:solidFill>
                <a:latin typeface="Microsoft YaHei"/>
              </a:defRPr>
            </a:pPr>
            <a:r>
              <a:t>• 质量感知选择明显优于只追求最低z-score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25880"/>
            <a:ext cx="5257800" cy="4480560"/>
          </a:xfrm>
          <a:prstGeom prst="roundRect">
            <a:avLst/>
          </a:prstGeom>
          <a:solidFill>
            <a:srgbClr val="FFE8E8"/>
          </a:solidFill>
          <a:ln>
            <a:solidFill>
              <a:srgbClr val="C9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l">
              <a:defRPr sz="2400" b="1">
                <a:solidFill>
                  <a:srgbClr val="C94646"/>
                </a:solidFill>
                <a:latin typeface="Microsoft YaHei"/>
              </a:defRPr>
            </a:pPr>
            <a:r>
              <a:t>暂时不能直接说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96596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1E2630"/>
                </a:solidFill>
                <a:latin typeface="Microsoft YaHei"/>
              </a:defRPr>
            </a:pPr>
            <a:r>
              <a:t>• 不能把99.6%写成语义保持攻击成功率</a:t>
            </a:r>
          </a:p>
          <a:p>
            <a:pPr>
              <a:spcAft>
                <a:spcPts val="1300"/>
              </a:spcAft>
              <a:defRPr sz="1800">
                <a:solidFill>
                  <a:srgbClr val="1E2630"/>
                </a:solidFill>
                <a:latin typeface="Microsoft YaHei"/>
              </a:defRPr>
            </a:pPr>
            <a:r>
              <a:t>• 不能把87.2%当成人工确认结果</a:t>
            </a:r>
          </a:p>
          <a:p>
            <a:pPr>
              <a:spcAft>
                <a:spcPts val="1300"/>
              </a:spcAft>
              <a:defRPr sz="1800">
                <a:solidFill>
                  <a:srgbClr val="1E2630"/>
                </a:solidFill>
                <a:latin typeface="Microsoft YaHei"/>
              </a:defRPr>
            </a:pPr>
            <a:r>
              <a:t>• 不能声称E3一定强于E2</a:t>
            </a:r>
          </a:p>
          <a:p>
            <a:pPr>
              <a:spcAft>
                <a:spcPts val="1300"/>
              </a:spcAft>
              <a:defRPr sz="1800">
                <a:solidFill>
                  <a:srgbClr val="1E2630"/>
                </a:solidFill>
                <a:latin typeface="Microsoft YaHei"/>
              </a:defRPr>
            </a:pPr>
            <a:r>
              <a:t>• 不能仅凭单一RealNews数据证明跨领域普适性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11292840" y="6510528"/>
            <a:ext cx="457200" cy="20116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r">
              <a:defRPr sz="1000" b="0">
                <a:solidFill>
                  <a:srgbClr val="627080"/>
                </a:solidFill>
                <a:latin typeface="Microsoft YaHe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28600"/>
            <a:ext cx="11155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l">
              <a:defRPr sz="2700" b="1">
                <a:solidFill>
                  <a:srgbClr val="12233A"/>
                </a:solidFill>
                <a:latin typeface="Microsoft YaHei"/>
              </a:defRPr>
            </a:pPr>
            <a:r>
              <a:t>12. 下一步怎么做？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95528"/>
            <a:ext cx="914400" cy="64008"/>
          </a:xfrm>
          <a:prstGeom prst="rect">
            <a:avLst/>
          </a:prstGeom>
          <a:solidFill>
            <a:srgbClr val="2DAABE"/>
          </a:solidFill>
          <a:ln>
            <a:solidFill>
              <a:srgbClr val="2DA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l">
              <a:defRPr sz="100" b="0">
                <a:solidFill>
                  <a:srgbClr val="2DAABE"/>
                </a:solidFill>
                <a:latin typeface="Microsoft YaHei"/>
              </a:defRPr>
            </a:pPr>
          </a:p>
        </p:txBody>
      </p:sp>
      <p:sp>
        <p:nvSpPr>
          <p:cNvPr id="4" name="Rectangle 3"/>
          <p:cNvSpPr/>
          <p:nvPr/>
        </p:nvSpPr>
        <p:spPr>
          <a:xfrm>
            <a:off x="502920" y="914400"/>
            <a:ext cx="10972800" cy="3200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l">
              <a:defRPr sz="1200" b="0">
                <a:solidFill>
                  <a:srgbClr val="627080"/>
                </a:solidFill>
                <a:latin typeface="Microsoft YaHei"/>
              </a:defRPr>
            </a:pPr>
            <a:r>
              <a:t>把“强规避”推进为“可信论文结果”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43000"/>
            <a:ext cx="548640" cy="566928"/>
          </a:xfrm>
          <a:prstGeom prst="roundRect">
            <a:avLst/>
          </a:prstGeom>
          <a:solidFill>
            <a:srgbClr val="2769B4"/>
          </a:solidFill>
          <a:ln>
            <a:solidFill>
              <a:srgbClr val="27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143000"/>
            <a:ext cx="2286000" cy="566928"/>
          </a:xfrm>
          <a:prstGeom prst="round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l">
              <a:defRPr sz="1900" b="1">
                <a:solidFill>
                  <a:srgbClr val="12233A"/>
                </a:solidFill>
                <a:latin typeface="Microsoft YaHei"/>
              </a:defRPr>
            </a:pPr>
            <a:r>
              <a:t>盲法人工评价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94760" y="1143000"/>
            <a:ext cx="74066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l">
              <a:defRPr sz="1700" b="0">
                <a:solidFill>
                  <a:srgbClr val="1E2630"/>
                </a:solidFill>
                <a:latin typeface="Microsoft YaHei"/>
              </a:defRPr>
            </a:pPr>
            <a:r>
              <a:t>随机/分层抽取60–100段，至少两名评审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03120"/>
            <a:ext cx="548640" cy="566928"/>
          </a:xfrm>
          <a:prstGeom prst="roundRect">
            <a:avLst/>
          </a:prstGeom>
          <a:solidFill>
            <a:srgbClr val="2769B4"/>
          </a:solidFill>
          <a:ln>
            <a:solidFill>
              <a:srgbClr val="27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2103120"/>
            <a:ext cx="2286000" cy="566928"/>
          </a:xfrm>
          <a:prstGeom prst="round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l">
              <a:defRPr sz="1900" b="1">
                <a:solidFill>
                  <a:srgbClr val="12233A"/>
                </a:solidFill>
                <a:latin typeface="Microsoft YaHei"/>
              </a:defRPr>
            </a:pPr>
            <a:r>
              <a:t>独立语义验证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94760" y="2103120"/>
            <a:ext cx="74066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l">
              <a:defRPr sz="1700" b="0">
                <a:solidFill>
                  <a:srgbClr val="1E2630"/>
                </a:solidFill>
                <a:latin typeface="Microsoft YaHei"/>
              </a:defRPr>
            </a:pPr>
            <a:r>
              <a:t>NLI、语义相似度、实体与关系一致性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063240"/>
            <a:ext cx="548640" cy="566928"/>
          </a:xfrm>
          <a:prstGeom prst="roundRect">
            <a:avLst/>
          </a:prstGeom>
          <a:solidFill>
            <a:srgbClr val="2769B4"/>
          </a:solidFill>
          <a:ln>
            <a:solidFill>
              <a:srgbClr val="27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3063240"/>
            <a:ext cx="2286000" cy="566928"/>
          </a:xfrm>
          <a:prstGeom prst="round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l">
              <a:defRPr sz="1900" b="1">
                <a:solidFill>
                  <a:srgbClr val="12233A"/>
                </a:solidFill>
                <a:latin typeface="Microsoft YaHei"/>
              </a:defRPr>
            </a:pPr>
            <a:r>
              <a:t>统计检验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94760" y="3063240"/>
            <a:ext cx="74066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l">
              <a:defRPr sz="1700" b="0">
                <a:solidFill>
                  <a:srgbClr val="1E2630"/>
                </a:solidFill>
                <a:latin typeface="Microsoft YaHei"/>
              </a:defRPr>
            </a:pPr>
            <a:r>
              <a:t>置信区间、配对检验、攻击预算曲线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023360"/>
            <a:ext cx="548640" cy="566928"/>
          </a:xfrm>
          <a:prstGeom prst="roundRect">
            <a:avLst/>
          </a:prstGeom>
          <a:solidFill>
            <a:srgbClr val="2769B4"/>
          </a:solidFill>
          <a:ln>
            <a:solidFill>
              <a:srgbClr val="27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4023360"/>
            <a:ext cx="2286000" cy="566928"/>
          </a:xfrm>
          <a:prstGeom prst="round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l">
              <a:defRPr sz="1900" b="1">
                <a:solidFill>
                  <a:srgbClr val="12233A"/>
                </a:solidFill>
                <a:latin typeface="Microsoft YaHei"/>
              </a:defRPr>
            </a:pPr>
            <a:r>
              <a:t>消融实验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94760" y="4023360"/>
            <a:ext cx="74066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l">
              <a:defRPr sz="1700" b="0">
                <a:solidFill>
                  <a:srgbClr val="1E2630"/>
                </a:solidFill>
                <a:latin typeface="Microsoft YaHei"/>
              </a:defRPr>
            </a:pPr>
            <a:r>
              <a:t>候选数、反馈、AMR引导、自适应补救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983480"/>
            <a:ext cx="548640" cy="566928"/>
          </a:xfrm>
          <a:prstGeom prst="roundRect">
            <a:avLst/>
          </a:prstGeom>
          <a:solidFill>
            <a:srgbClr val="2769B4"/>
          </a:solidFill>
          <a:ln>
            <a:solidFill>
              <a:srgbClr val="27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1600" y="4983480"/>
            <a:ext cx="2286000" cy="566928"/>
          </a:xfrm>
          <a:prstGeom prst="round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l">
              <a:defRPr sz="1900" b="1">
                <a:solidFill>
                  <a:srgbClr val="12233A"/>
                </a:solidFill>
                <a:latin typeface="Microsoft YaHei"/>
              </a:defRPr>
            </a:pPr>
            <a:r>
              <a:t>跨域验证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94760" y="4983480"/>
            <a:ext cx="74066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l">
              <a:defRPr sz="1700" b="0">
                <a:solidFill>
                  <a:srgbClr val="1E2630"/>
                </a:solidFill>
                <a:latin typeface="Microsoft YaHei"/>
              </a:defRPr>
            </a:pPr>
            <a:r>
              <a:t>增加另一个领域或数据集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292840" y="6510528"/>
            <a:ext cx="457200" cy="20116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/>
          <a:lstStyle/>
          <a:p>
            <a:pPr algn="r">
              <a:defRPr sz="1000" b="0">
                <a:solidFill>
                  <a:srgbClr val="627080"/>
                </a:solidFill>
                <a:latin typeface="Microsoft YaHe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